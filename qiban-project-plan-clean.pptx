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4effa99d74c56" /><Relationship Type="http://schemas.openxmlformats.org/officeDocument/2006/relationships/extended-properties" Target="/docProps/app.xml" Id="R372d5884a1ac4ac8" /><Relationship Type="http://schemas.openxmlformats.org/officeDocument/2006/relationships/officeDocument" Target="/ppt/presentation.xml" Id="Rd418259648b747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cc423b3a774c64"/>
  </p:sldMasterIdLst>
  <p:notesMasterIdLst>
    <p:notesMasterId xmlns:r="http://schemas.openxmlformats.org/officeDocument/2006/relationships" r:id="R6bdd51477221414d"/>
  </p:notesMasterIdLst>
  <p:sldIdLst>
    <p:sldId xmlns:r="http://schemas.openxmlformats.org/officeDocument/2006/relationships" id="256" r:id="R99a8050be05f4143"/>
    <p:sldId xmlns:r="http://schemas.openxmlformats.org/officeDocument/2006/relationships" id="257" r:id="R91c35a89d3bf431b"/>
    <p:sldId xmlns:r="http://schemas.openxmlformats.org/officeDocument/2006/relationships" id="258" r:id="R9ff002655fbe45ca"/>
    <p:sldId xmlns:r="http://schemas.openxmlformats.org/officeDocument/2006/relationships" id="259" r:id="R27a22b4a159645c1"/>
    <p:sldId xmlns:r="http://schemas.openxmlformats.org/officeDocument/2006/relationships" id="260" r:id="R80e71a4746544ec0"/>
    <p:sldId xmlns:r="http://schemas.openxmlformats.org/officeDocument/2006/relationships" id="261" r:id="R55a1a08ad1854c9f"/>
    <p:sldId xmlns:r="http://schemas.openxmlformats.org/officeDocument/2006/relationships" id="262" r:id="Re931427d3d5c4962"/>
    <p:sldId xmlns:r="http://schemas.openxmlformats.org/officeDocument/2006/relationships" id="263" r:id="R5406686e7d964423"/>
    <p:sldId xmlns:r="http://schemas.openxmlformats.org/officeDocument/2006/relationships" id="264" r:id="Rc2b9dca3f0e24c74"/>
    <p:sldId xmlns:r="http://schemas.openxmlformats.org/officeDocument/2006/relationships" id="265" r:id="R297308c55be3431b"/>
    <p:sldId xmlns:r="http://schemas.openxmlformats.org/officeDocument/2006/relationships" id="266" r:id="Re4a3a7a61b1649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5876bd8cc749ef" /><Relationship Type="http://schemas.openxmlformats.org/officeDocument/2006/relationships/slideMaster" Target="/ppt/slideMasters/slideMaster1.xml" Id="Ra6cc423b3a774c64" /><Relationship Type="http://schemas.openxmlformats.org/officeDocument/2006/relationships/notesMaster" Target="/ppt/notesMasters/notesMaster1.xml" Id="R6bdd51477221414d" /><Relationship Type="http://schemas.openxmlformats.org/officeDocument/2006/relationships/presProps" Target="/ppt/presProps.xml" Id="Rd7b108dea6d64ff7" /><Relationship Type="http://schemas.openxmlformats.org/officeDocument/2006/relationships/tableStyles" Target="/ppt/tableStyles.xml" Id="R00317e362a3b460c" /><Relationship Type="http://schemas.openxmlformats.org/officeDocument/2006/relationships/slide" Target="/ppt/slides/slide1.xml" Id="R99a8050be05f4143" /><Relationship Type="http://schemas.openxmlformats.org/officeDocument/2006/relationships/slide" Target="/ppt/slides/slide2.xml" Id="R91c35a89d3bf431b" /><Relationship Type="http://schemas.openxmlformats.org/officeDocument/2006/relationships/slide" Target="/ppt/slides/slide3.xml" Id="R9ff002655fbe45ca" /><Relationship Type="http://schemas.openxmlformats.org/officeDocument/2006/relationships/slide" Target="/ppt/slides/slide4.xml" Id="R27a22b4a159645c1" /><Relationship Type="http://schemas.openxmlformats.org/officeDocument/2006/relationships/slide" Target="/ppt/slides/slide5.xml" Id="R80e71a4746544ec0" /><Relationship Type="http://schemas.openxmlformats.org/officeDocument/2006/relationships/slide" Target="/ppt/slides/slide6.xml" Id="R55a1a08ad1854c9f" /><Relationship Type="http://schemas.openxmlformats.org/officeDocument/2006/relationships/slide" Target="/ppt/slides/slide7.xml" Id="Re931427d3d5c4962" /><Relationship Type="http://schemas.openxmlformats.org/officeDocument/2006/relationships/slide" Target="/ppt/slides/slide8.xml" Id="R5406686e7d964423" /><Relationship Type="http://schemas.openxmlformats.org/officeDocument/2006/relationships/slide" Target="/ppt/slides/slide9.xml" Id="Rc2b9dca3f0e24c74" /><Relationship Type="http://schemas.openxmlformats.org/officeDocument/2006/relationships/slide" Target="/ppt/slides/slide10.xml" Id="R297308c55be3431b" /><Relationship Type="http://schemas.openxmlformats.org/officeDocument/2006/relationships/slide" Target="/ppt/slides/slide11.xml" Id="Re4a3a7a61b1649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3463fd3b44c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2439c9f6048eb" /><Relationship Type="http://schemas.openxmlformats.org/officeDocument/2006/relationships/notesMaster" Target="/ppt/notesMasters/notesMaster1.xml" Id="Ra5a6ac671674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9b8e600dd544a9" /><Relationship Type="http://schemas.openxmlformats.org/officeDocument/2006/relationships/notesMaster" Target="/ppt/notesMasters/notesMaster1.xml" Id="R2ea099fa78a5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66af101b3f4807" /><Relationship Type="http://schemas.openxmlformats.org/officeDocument/2006/relationships/notesMaster" Target="/ppt/notesMasters/notesMaster1.xml" Id="Rf0b950386070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72221087664d96" /><Relationship Type="http://schemas.openxmlformats.org/officeDocument/2006/relationships/notesMaster" Target="/ppt/notesMasters/notesMaster1.xml" Id="Ra2f80f844a984c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bca52190a49f4" /><Relationship Type="http://schemas.openxmlformats.org/officeDocument/2006/relationships/notesMaster" Target="/ppt/notesMasters/notesMaster1.xml" Id="Raa9c090cccfa49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27005f754144e5" /><Relationship Type="http://schemas.openxmlformats.org/officeDocument/2006/relationships/notesMaster" Target="/ppt/notesMasters/notesMaster1.xml" Id="R392b7e0bff2e47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f4d737ec384fba" /><Relationship Type="http://schemas.openxmlformats.org/officeDocument/2006/relationships/notesMaster" Target="/ppt/notesMasters/notesMaster1.xml" Id="Rd54de0e6fb2940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6b84f807344b65" /><Relationship Type="http://schemas.openxmlformats.org/officeDocument/2006/relationships/notesMaster" Target="/ppt/notesMasters/notesMaster1.xml" Id="R8ff485a5e6654f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988823a2e14270" /><Relationship Type="http://schemas.openxmlformats.org/officeDocument/2006/relationships/notesMaster" Target="/ppt/notesMasters/notesMaster1.xml" Id="Rd5806f3d61fa40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6fc5d8451a4c85" /><Relationship Type="http://schemas.openxmlformats.org/officeDocument/2006/relationships/notesMaster" Target="/ppt/notesMasters/notesMaster1.xml" Id="R749d51a2215741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6f246565cc4f35" /><Relationship Type="http://schemas.openxmlformats.org/officeDocument/2006/relationships/notesMaster" Target="/ppt/notesMasters/notesMaster1.xml" Id="R50f2e15a56e245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fa912927644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912f0e21f45ed" /><Relationship Type="http://schemas.openxmlformats.org/officeDocument/2006/relationships/slideLayout" Target="/ppt/slideLayouts/slideLayout1.xml" Id="R950bd72bb8c24f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bd72bb8c24f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cee3604c74f8d" /><Relationship Type="http://schemas.openxmlformats.org/officeDocument/2006/relationships/notesSlide" Target="/ppt/notesSlides/notesSlide1.xml" Id="Rfd2f3808c34e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a23562b544b02" /><Relationship Type="http://schemas.openxmlformats.org/officeDocument/2006/relationships/notesSlide" Target="/ppt/notesSlides/notesSlide2.xml" Id="Re5765765e50d49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923249da54b64" /><Relationship Type="http://schemas.openxmlformats.org/officeDocument/2006/relationships/notesSlide" Target="/ppt/notesSlides/notesSlide3.xml" Id="Rd887d536d3214a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c6fdc58944f88" /><Relationship Type="http://schemas.openxmlformats.org/officeDocument/2006/relationships/notesSlide" Target="/ppt/notesSlides/notesSlide4.xml" Id="R16a3df49ef73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c6beb8b244adf" /><Relationship Type="http://schemas.openxmlformats.org/officeDocument/2006/relationships/notesSlide" Target="/ppt/notesSlides/notesSlide5.xml" Id="Re9fd00e42c7b43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b2b81af840bb" /><Relationship Type="http://schemas.openxmlformats.org/officeDocument/2006/relationships/notesSlide" Target="/ppt/notesSlides/notesSlide6.xml" Id="R9290ef66de1349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6285c4d8944e9" /><Relationship Type="http://schemas.openxmlformats.org/officeDocument/2006/relationships/notesSlide" Target="/ppt/notesSlides/notesSlide7.xml" Id="R4fa6e488ce1146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7f0aa984143ab" /><Relationship Type="http://schemas.openxmlformats.org/officeDocument/2006/relationships/notesSlide" Target="/ppt/notesSlides/notesSlide8.xml" Id="Rc4614b70f9ca45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10c62a5d4d64" /><Relationship Type="http://schemas.openxmlformats.org/officeDocument/2006/relationships/notesSlide" Target="/ppt/notesSlides/notesSlide9.xml" Id="Rfb2c7059ded14e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0229dc5094613" /><Relationship Type="http://schemas.openxmlformats.org/officeDocument/2006/relationships/notesSlide" Target="/ppt/notesSlides/notesSlide10.xml" Id="R63355374318f43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e05e65b9c46bf" /><Relationship Type="http://schemas.openxmlformats.org/officeDocument/2006/relationships/notesSlide" Target="/ppt/notesSlides/notesSlide11.xml" Id="R47805f71e1134b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ct">
            <a:extLst xmlns:a="http://schemas.openxmlformats.org/drawingml/2006/main">
              <a:ext uri="{FF2B5EF4-FFF2-40B4-BE49-F238E27FC236}">
                <a16:creationId xmlns:a16="http://schemas.microsoft.com/office/drawing/2014/main" id="{973BCEBC-EDD9-4FF4-B3E5-1CD4CCA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CFFF97F8-99E3-46DB-87D1-5F849FE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CBD7EEB3-25E0-40AE-927E-1322360A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D066B5AF-FBF3-454F-9C33-4EA55CD1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F89D4684-EB3E-49DE-A862-B4E31AE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911443FD-146E-46C9-93F1-43D89398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25C952D0-FD93-4BEF-9B63-C576DAED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DC9428FD-7D1F-4B8D-8D8E-4CE51C7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A89127B6-DF26-4D17-BC14-AC0871F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3A06A08A-AC83-4B08-8816-8B90D642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08B4E409-B2A9-4A53-8D39-0BE44891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6608B257-6FDC-465C-90C0-13ADF6EC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1337BE92-F0CA-4342-8F58-F216C6AA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B1550ABA-3B7B-4D9C-8490-A9C7A468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286F9FF1-7A87-40AF-8735-DF52472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172C3ADC-D0FE-4F98-8E00-91A531B7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DC4D3AB5-B512-4A73-8D65-CED396E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7350EDC8-4A65-4386-AA13-8DF2F4A7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3DE99BC6-F1C9-450A-974A-0BB1FFA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24AB81F2-0C7D-4217-87D7-A90EC67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ADB3C29A-3245-40E4-8E5C-C1691697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FECB2726-8FA3-4073-8918-122CA7A8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4B288CFE-CE74-48C1-BFAD-5EC75483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DA0F3575-F47E-4074-A27B-E7413AE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1C7D1B72-0555-4F6C-A372-FD6496A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3F277E74-6ED9-422D-92F5-3C250F7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C2EC6F71-8384-459E-9762-64D4DA7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DA0BB9A6-A0C4-4004-A3E6-9E36072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51D4B6E4-89BB-4F18-8953-98F3A2E1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3BC33241-B472-43F9-A027-7FDC7C1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9A7D0918-374F-46FD-93E7-671D4C36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3BFE87A9-31C5-4640-8B8A-E0342F2A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957BFFBD-B19B-40A4-908D-31D24C95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39DFBC10-990F-4E02-B2C0-C06B7631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A7C1DF48-C611-4637-9349-1B10949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00B2E54B-A11E-4B74-B82B-5A720D01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78F0257F-8F7A-4ADB-8220-54FD2C0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FBFD4324-5AF0-4C47-B7CA-B09888D7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E8AD163F-27FF-4509-B359-8DC6B35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1DCC4066-FA24-400E-B219-DA0CD9D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F728B28E-5A3C-4001-BA8F-822490A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9A6D6F01-FDA5-4C33-BD49-DA1BF314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5B753235-5302-4AC6-AE19-B02586D7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37A28ABD-B78C-4A0C-9FB3-76AEFD79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79C1E6FA-76C7-4064-BC33-BA094E67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0FCE2764-D7C8-44C0-82B6-8A2C94D6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">
            <a:extLst xmlns:a="http://schemas.openxmlformats.org/drawingml/2006/main">
              <a:ext uri="{FF2B5EF4-FFF2-40B4-BE49-F238E27FC236}">
                <a16:creationId xmlns:a16="http://schemas.microsoft.com/office/drawing/2014/main" id="{3B91EDBD-FB80-4593-BEB3-481E003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0AD60A6C-F62F-4B9E-8F27-235D09B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8D643429-4CEE-46A6-B821-A5F561C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FD2C75EE-3C79-4770-8DA0-1FFF7D1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BC126F33-ACBA-42EA-8283-D8955678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847247AC-B74D-4FD2-926A-4E060720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">
            <a:extLst xmlns:a="http://schemas.openxmlformats.org/drawingml/2006/main">
              <a:ext uri="{FF2B5EF4-FFF2-40B4-BE49-F238E27FC236}">
                <a16:creationId xmlns:a16="http://schemas.microsoft.com/office/drawing/2014/main" id="{1B3A2B7F-9688-4A1C-824A-5C32E45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7CB39650-5ED4-4EFF-B650-3DB2B97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F83C53A8-23AA-4863-A783-01750CFC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61C264CF-79B4-47E1-86A5-B4DBAD39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">
            <a:extLst xmlns:a="http://schemas.openxmlformats.org/drawingml/2006/main">
              <a:ext uri="{FF2B5EF4-FFF2-40B4-BE49-F238E27FC236}">
                <a16:creationId xmlns:a16="http://schemas.microsoft.com/office/drawing/2014/main" id="{A4B12089-40B5-4CB7-96B0-7F13EFFB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1E43303B-D5BA-42D9-BB6E-9561EF5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262C0C50-3499-45F0-9533-18939EB1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84E920F5-FC30-4D63-8E3A-D7FE0AE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FA358D1F-6C5D-4E72-B7FC-0011BE77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D73A4E1F-81A9-479B-9A4D-9AAD4BC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ct">
            <a:extLst xmlns:a="http://schemas.openxmlformats.org/drawingml/2006/main">
              <a:ext uri="{FF2B5EF4-FFF2-40B4-BE49-F238E27FC236}">
                <a16:creationId xmlns:a16="http://schemas.microsoft.com/office/drawing/2014/main" id="{4154E789-72BC-45E7-886A-BC05E974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C17B21A0-DB1D-41F5-9772-DED859A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ct">
            <a:extLst xmlns:a="http://schemas.openxmlformats.org/drawingml/2006/main">
              <a:ext uri="{FF2B5EF4-FFF2-40B4-BE49-F238E27FC236}">
                <a16:creationId xmlns:a16="http://schemas.microsoft.com/office/drawing/2014/main" id="{80C73E55-4AB5-41F1-8059-E5A6CE9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6E3317CA-4300-4BCC-9C43-B9FCB85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0981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73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♞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21D6CE1B-149E-4A54-AD59-8C838AC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41" y="4636294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73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♔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F3E9B5A8-125E-4FAD-8FD5-B45C2A34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97" y="3148013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73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♛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F00D2BA8-989C-43FD-BCAE-DF2F3A7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棋伴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F63B18D8-E49B-462F-886F-78A51FA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让国际象棋</a:t>
            </a:r>
          </a:p>
        </p:txBody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2D235B70-23D5-4BF8-9B61-404C56C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更容易听懂，</a:t>
            </a:r>
          </a:p>
        </p:txBody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A79D7FC5-57A2-419D-ACE5-E4A3A5E5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也更容易坚持。</a:t>
            </a:r>
          </a:p>
        </p:txBody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3E0263E0-EF8D-4800-92CF-CDAD43B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95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国际象棋智能学习平台项目计划书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F9C1CE58-D1D0-4BF8-9E43-09FEF8EA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86200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我6岁开始学棋，很清楚初学者最难的不是兴趣，而是理解和坚持。</a:t>
            </a:r>
          </a:p>
        </p:txBody>
      </p:sp>
      <p:sp>
        <p:nvSpPr>
          <p:cNvPr id="75" name="roundRect">
            <a:extLst xmlns:a="http://schemas.openxmlformats.org/drawingml/2006/main">
              <a:ext uri="{FF2B5EF4-FFF2-40B4-BE49-F238E27FC236}">
                <a16:creationId xmlns:a16="http://schemas.microsoft.com/office/drawing/2014/main" id="{F2E4B464-F93B-47F0-9482-03309DA7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00625"/>
            <a:ext cx="542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606D0859-D81C-4011-A76E-4C48143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社会效益优先：从渝中到重庆，帮助更多初学者</a:t>
            </a:r>
          </a:p>
        </p:txBody>
      </p:sp>
      <p:sp>
        <p:nvSpPr>
          <p:cNvPr id="77" name="rect">
            <a:extLst xmlns:a="http://schemas.openxmlformats.org/drawingml/2006/main">
              <a:ext uri="{FF2B5EF4-FFF2-40B4-BE49-F238E27FC236}">
                <a16:creationId xmlns:a16="http://schemas.microsoft.com/office/drawing/2014/main" id="{EF83E2AE-6A06-431D-A468-5520570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xt">
            <a:extLst xmlns:a="http://schemas.openxmlformats.org/drawingml/2006/main">
              <a:ext uri="{FF2B5EF4-FFF2-40B4-BE49-F238E27FC236}">
                <a16:creationId xmlns:a16="http://schemas.microsoft.com/office/drawing/2014/main" id="{EC8BC0B8-F18A-463D-833E-29988FB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8C89F30D-8813-4BBF-B672-D7053D5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3282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7A3A15F-A679-451F-AA84-AB3C1D5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A1BC929-BBEE-4510-87FD-FE2C3E3C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为什么我想做这个项目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DEB1124-1320-40B1-9748-932DD7A5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真实的学习经历，比任何市场分析都更早提醒我：初学者需要有人把棋讲明白。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D79B9F90-8EA2-468A-9C91-494EB7F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8DD111-9D70-4B01-B139-7E7A2321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我的起点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E39ADB-9FF5-4AEE-906A-1864391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我6岁开始学棋，发现很多孩子不是不想学，而是被术语和缺少反馈卡住了。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5E449E30-06CF-4B79-A8F5-BE1137D6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376917-78D6-45BA-825B-B111320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家长的重要性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D17C5F-239E-4E76-A325-3C527094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1470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低龄孩子需要鼓励和监督。但很多家长不懂棋，很难看懂学习效果。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8475821C-167D-4790-B00F-B95FE15F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1D986DB-4A09-4367-AE8D-CBB23BDA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项目初心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A7F7F7-FCCF-4CC0-90E0-E582C4B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把“听不懂”变成“能理解”，把“没人监督”变成“进步能被看见”。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4C2578E1-3C78-417E-98F4-8048F825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E39C8D2-90BF-499F-A3E7-17E5FD51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50F4F9-F912-4CE2-BC5B-9070CF49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9975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3334CDE-7A3F-4407-8144-819225F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PAIN POINTS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0642B37-E921-4647-B614-26D8B18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初学者真正卡在哪里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26EC75F-FCED-47D8-AF56-F9D82822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尤其是 4-10 岁、三级之前的孩子，他们最需要的是清楚解释和持续陪伴。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C47D695F-4FCE-4E75-BE18-B954A97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648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DE80CE-54BB-4FE3-B463-1278C4F2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专业语言难懂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037011-A6A7-4648-9722-4D3299A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牵制、闪击、弱格等词会背，不代表孩子真的理解。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631236D7-ACCB-4922-9889-5B83618B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4648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8AE3E2-2859-4C8B-8BF7-1978850A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做题只有对错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BBB758-E179-4E8D-8C02-F773389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很多题库告诉学生答案，却没有解释为什么。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F7A72236-4235-4748-8A11-D13F036F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648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AD8205A-E254-47C1-B88C-687F65A9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家长难监督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FD37BC-A403-4BED-9FB6-6687251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家长愿意支持，但不懂棋，很难判断孩子是否进步。</a:t>
            </a:r>
          </a:p>
        </p:txBody>
      </p:sp>
      <p:sp>
        <p:nvSpPr>
          <p:cNvPr id="13" name="roundRect">
            <a:extLst xmlns:a="http://schemas.openxmlformats.org/drawingml/2006/main">
              <a:ext uri="{FF2B5EF4-FFF2-40B4-BE49-F238E27FC236}">
                <a16:creationId xmlns:a16="http://schemas.microsoft.com/office/drawing/2014/main" id="{931463A7-814D-4082-BE7E-45EA80F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4648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1FBAB4D-8EE3-48B3-BD0A-778E534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课后管理困难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52C3C6-CE83-4019-9BA2-C9578224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422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老师课堂讲完后，很难持续追踪每个学生练习。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68930A9C-BAEC-471F-8756-FEDC2A2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4AB5765-66C5-4D81-A4EF-DE32043A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57E318-3EEC-4D89-A90F-70E0FE72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8769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4D65B09-7D4C-4C4E-B9C9-8132427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SOLUTION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1A0857E-F41B-465E-8AC1-BAE9894A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棋伴的学习闭环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4A53B98-9C81-4767-9A01-627EA5ED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把学棋从课堂延伸到每天。</a:t>
            </a:r>
          </a:p>
        </p:txBody>
      </p:sp>
      <p:sp>
        <p:nvSpPr>
          <p:cNvPr id="4" name="ellipse">
            <a:extLst xmlns:a="http://schemas.openxmlformats.org/drawingml/2006/main">
              <a:ext uri="{FF2B5EF4-FFF2-40B4-BE49-F238E27FC236}">
                <a16:creationId xmlns:a16="http://schemas.microsoft.com/office/drawing/2014/main" id="{BDDC4123-89A9-46B6-AF87-19F34FA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86075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1140BE-4EBE-4A15-9E3D-2ECD4089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28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6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</a:t>
            </a:r>
          </a:p>
        </p:txBody>
      </p:sp>
      <p:sp>
        <p:nvSpPr>
          <p:cNvPr id="6" name="roundRect">
            <a:extLst xmlns:a="http://schemas.openxmlformats.org/drawingml/2006/main">
              <a:ext uri="{FF2B5EF4-FFF2-40B4-BE49-F238E27FC236}">
                <a16:creationId xmlns:a16="http://schemas.microsoft.com/office/drawing/2014/main" id="{86DC4548-4E20-4B5E-8815-0AFC1289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716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16E3B9-52D9-4244-81AC-989C1D5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24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28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孩子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0B28DB-84CB-430D-9B0D-361BE0D8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做题 / 对战 / 学习</a:t>
            </a:r>
          </a:p>
        </p:txBody>
      </p:sp>
      <p:sp>
        <p:nvSpPr>
          <p:cNvPr id="9" name="roundRect">
            <a:extLst xmlns:a="http://schemas.openxmlformats.org/drawingml/2006/main">
              <a:ext uri="{FF2B5EF4-FFF2-40B4-BE49-F238E27FC236}">
                <a16:creationId xmlns:a16="http://schemas.microsoft.com/office/drawing/2014/main" id="{F8C9C997-C09B-42BD-AC12-EC36D335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2897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87B5ED-4440-4FEA-86B2-3E7ACCA2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28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2D335A-C8CB-4265-B3B3-D11A52A1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433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讲清楚每一步</a:t>
            </a:r>
          </a:p>
        </p:txBody>
      </p:sp>
      <p:sp>
        <p:nvSpPr>
          <p:cNvPr id="12" name="roundRect">
            <a:extLst xmlns:a="http://schemas.openxmlformats.org/drawingml/2006/main">
              <a:ext uri="{FF2B5EF4-FFF2-40B4-BE49-F238E27FC236}">
                <a16:creationId xmlns:a16="http://schemas.microsoft.com/office/drawing/2014/main" id="{A9141B45-4B12-4C0E-8614-73172870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863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936983-B9BA-43D1-B0E8-5154363D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38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28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家长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C8F6583-45BC-4822-9DA1-0EBAF956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00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看见坚持和进步</a:t>
            </a:r>
          </a:p>
        </p:txBody>
      </p:sp>
      <p:sp>
        <p:nvSpPr>
          <p:cNvPr id="15" name="roundRect">
            <a:extLst xmlns:a="http://schemas.openxmlformats.org/drawingml/2006/main">
              <a:ext uri="{FF2B5EF4-FFF2-40B4-BE49-F238E27FC236}">
                <a16:creationId xmlns:a16="http://schemas.microsoft.com/office/drawing/2014/main" id="{2970B557-7BCE-4C83-AA10-8EBEFC95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2897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7957AD-00C3-40B1-AA8B-641A124B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81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28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老师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CFB6FE-8868-47DA-A861-B2A33A1C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433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布置任务和管理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9C3E58C7-DC5A-4F47-A72F-44003BB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312960-6D21-4056-8090-E84315AE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7AD02CE-4FE2-43A8-9042-64F054E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4304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B9F7510-2170-4BFD-A7C5-BE50D86E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CORE INNOVATION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18E8CAC-E9F9-44B8-814E-148E4E3E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用大语言模型，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把专业棋语讲成孩子听得懂的话</a:t>
            </a:r>
          </a:p>
        </p:txBody>
      </p:sp>
      <p:sp>
        <p:nvSpPr>
          <p:cNvPr id="3" name="roundRect">
            <a:extLst xmlns:a="http://schemas.openxmlformats.org/drawingml/2006/main">
              <a:ext uri="{FF2B5EF4-FFF2-40B4-BE49-F238E27FC236}">
                <a16:creationId xmlns:a16="http://schemas.microsoft.com/office/drawing/2014/main" id="{756B2CA8-4D39-4A51-A919-DC4F740B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C31477-8AF3-4D0F-AE60-6B20733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7A1E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1E24"/>
                </a:solidFill>
                <a:latin typeface="Microsoft YaHei"/>
                <a:ea typeface="Microsoft YaHei"/>
                <a:cs typeface="Microsoft YaHei"/>
              </a:rPr>
              <a:t>传统说法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013F12-2AC5-4816-A330-51C91F54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“这是一个牵制。被牵制的子不能随便移动，否则会暴露后方更重要的目标。”</a:t>
            </a:r>
          </a:p>
        </p:txBody>
      </p:sp>
      <p:sp>
        <p:nvSpPr>
          <p:cNvPr id="6" name="roundRect">
            <a:extLst xmlns:a="http://schemas.openxmlformats.org/drawingml/2006/main">
              <a:ext uri="{FF2B5EF4-FFF2-40B4-BE49-F238E27FC236}">
                <a16:creationId xmlns:a16="http://schemas.microsoft.com/office/drawing/2014/main" id="{58C4BE9F-3EA2-4FFD-9C4C-4F52D4E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F628DC-F829-4578-AFBF-7E2B0830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AI 面向初学者解释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150370-9F34-4CEB-8319-265FC7A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“这个棋子后面保护着更重要的棋子，所以它现在不能乱走，就像被钉在原地一样。”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87535DF0-6E9E-4181-B90C-41A4279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374E54-BA4D-46B5-9ED5-A516EA79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8291FD-7D05-4D4F-AB12-5601ECF0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9100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47E561E-A23C-4052-8360-B2913BA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949355-E417-4C6D-875E-0B9C9FA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平台目前能做什么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B21FDB-EA60-4023-A281-40DA316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不是单一题库，而是面向初学者、家长和老师的一整套学习工具。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80B5BEC4-1629-4012-82BF-621175C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AA29A3-0B15-48E6-A2B1-545C5B0A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学习中心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EC6C4E-E53F-469E-AA3C-84EABAB5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开局原则、中局思路、残局基础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7ED53066-5135-49E5-97F2-F0ECB44A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942CDE-8B2B-4F03-9B4B-76023EAE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题库训练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3D94AC-6E63-4E10-9DF5-81D50E2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做题、判定、提示、错题反馈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9B31C5C9-DFB4-4116-891A-4A6B1997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3AAAAD-85D4-4C0E-BD23-3ECF83DE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AI 讲解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E46414-2631-4CEF-A996-F2D17A6F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把专业内容解释成新手能懂的话</a:t>
            </a:r>
          </a:p>
        </p:txBody>
      </p:sp>
      <p:sp>
        <p:nvSpPr>
          <p:cNvPr id="13" name="roundRect">
            <a:extLst xmlns:a="http://schemas.openxmlformats.org/drawingml/2006/main">
              <a:ext uri="{FF2B5EF4-FFF2-40B4-BE49-F238E27FC236}">
                <a16:creationId xmlns:a16="http://schemas.microsoft.com/office/drawing/2014/main" id="{59975C0B-111A-4AE5-98E0-2E139FF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2631B5A-1DDA-4AF3-92F7-C01EDA88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人机对战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D65E11-2A11-4694-B794-B49C8A32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Stockfish 练习与建议走法</a:t>
            </a:r>
          </a:p>
        </p:txBody>
      </p:sp>
      <p:sp>
        <p:nvSpPr>
          <p:cNvPr id="16" name="roundRect">
            <a:extLst xmlns:a="http://schemas.openxmlformats.org/drawingml/2006/main">
              <a:ext uri="{FF2B5EF4-FFF2-40B4-BE49-F238E27FC236}">
                <a16:creationId xmlns:a16="http://schemas.microsoft.com/office/drawing/2014/main" id="{2A6CE1E3-6DA5-4769-A0FE-2E666C09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8A4D454-3433-4157-BBF0-CC5CF7AC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家长中心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A146EA4-EEFD-4C6D-BB79-6883063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绑定孩子、学习周报、计划监督</a:t>
            </a:r>
          </a:p>
        </p:txBody>
      </p:sp>
      <p:sp>
        <p:nvSpPr>
          <p:cNvPr id="19" name="roundRect">
            <a:extLst xmlns:a="http://schemas.openxmlformats.org/drawingml/2006/main">
              <a:ext uri="{FF2B5EF4-FFF2-40B4-BE49-F238E27FC236}">
                <a16:creationId xmlns:a16="http://schemas.microsoft.com/office/drawing/2014/main" id="{AA0F9128-97C3-4344-AD59-3BD45F9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6A434EC-E9A4-483B-8B41-A9EFA103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老师管理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0E3807F-4EC9-480D-9ABF-5B40538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24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班级、作业、公告与学生情况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73F7ED18-2D7C-4960-857D-5A47F757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512506B-BE75-4E00-BCC1-BC9731A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6695921-9DA2-4B70-9A5F-7AB21543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5260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93124B3-DF16-406E-8929-1B4F38A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D9CF658-4927-446E-B7D7-D4638FF3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目前进展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29E61D9-83D3-4A9B-B17D-8CE2A4C7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项目已经不是停留在想法里，而是开始真实服务初学者。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AF86C79C-CB3E-4A65-92FF-71925B35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DA56D0-C27F-41E3-9FE8-0060AF7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6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903B2F-46CE-4FC9-AC55-75A4BADA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19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7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具备注册、学习、训练、AI 讲解、家长/老师管理等功能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F847E804-82EB-412E-9660-1AF780C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3512BF-4980-4D00-80CE-2E7870B1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6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获得认可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7D0A87-805B-45F5-A62D-6DCA6BD1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获得渝中区国际象棋协会的认可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8F1FE05A-279F-452C-8F36-3A381BBE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1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50AF43-4911-4B5F-B5B8-5F3786EC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6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正在使用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86194D-AAE4-40E3-BBF9-5455DE9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350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帮助当地初学者进行国际象棋学习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524D2568-F703-49B9-97AA-011E57D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373227-5A72-4048-BC8C-A2A69776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4D20997-B9B7-45F8-BF86-BF4B2E15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1176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C130678-1BBD-4E4A-87BE-AC1D4A95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IMPACT FIRST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CE73F27-DA18-4B2F-A7BF-77BAE4DD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现阶段最重要的是社会效益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85825B-D617-428B-A1EE-C433B166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先让更多孩子用得上、看得懂、坚持得下去。</a:t>
            </a:r>
          </a:p>
        </p:txBody>
      </p:sp>
      <p:sp>
        <p:nvSpPr>
          <p:cNvPr id="4" name="ellipse">
            <a:extLst xmlns:a="http://schemas.openxmlformats.org/drawingml/2006/main">
              <a:ext uri="{FF2B5EF4-FFF2-40B4-BE49-F238E27FC236}">
                <a16:creationId xmlns:a16="http://schemas.microsoft.com/office/drawing/2014/main" id="{812AB68A-D6CD-4BCE-8045-370E57FF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9DABC7-1548-484F-A637-BB3A726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帮助孩子降低入门门槛：不被专业术语挡在门外。</a:t>
            </a:r>
          </a:p>
        </p:txBody>
      </p:sp>
      <p:sp>
        <p:nvSpPr>
          <p:cNvPr id="6" name="ellipse">
            <a:extLst xmlns:a="http://schemas.openxmlformats.org/drawingml/2006/main">
              <a:ext uri="{FF2B5EF4-FFF2-40B4-BE49-F238E27FC236}">
                <a16:creationId xmlns:a16="http://schemas.microsoft.com/office/drawing/2014/main" id="{E6249C5B-B1B8-43F3-9405-98D710FD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9DDC5C-92AB-4C6F-A990-F48E081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帮助家长更好陪伴：不懂棋，也能看到练习和进步。</a:t>
            </a:r>
          </a:p>
        </p:txBody>
      </p:sp>
      <p:sp>
        <p:nvSpPr>
          <p:cNvPr id="8" name="ellipse">
            <a:extLst xmlns:a="http://schemas.openxmlformats.org/drawingml/2006/main">
              <a:ext uri="{FF2B5EF4-FFF2-40B4-BE49-F238E27FC236}">
                <a16:creationId xmlns:a16="http://schemas.microsoft.com/office/drawing/2014/main" id="{EF1AFCC3-47CF-4210-8EBF-49854BE1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85F08B-4BFD-4E0E-A09D-E515B9C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帮助老师提高效率：课后练习变得可追踪、可反馈。</a:t>
            </a:r>
          </a:p>
        </p:txBody>
      </p:sp>
      <p:sp>
        <p:nvSpPr>
          <p:cNvPr id="10" name="ellipse">
            <a:extLst xmlns:a="http://schemas.openxmlformats.org/drawingml/2006/main">
              <a:ext uri="{FF2B5EF4-FFF2-40B4-BE49-F238E27FC236}">
                <a16:creationId xmlns:a16="http://schemas.microsoft.com/office/drawing/2014/main" id="{6DA830FE-7C1E-4023-B0B4-7AA005F8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53EA21-105E-476C-8EA2-E003122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帮助重庆少儿国际象棋普及：从渝中试点，慢慢服务更多区域。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28B1E4F5-71F4-41D7-9C36-1338382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0D45DD-387D-4DEE-8791-8A601B9B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95F29D-1D9F-4BE9-A1B6-66DD0E0E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4598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E98D92B-04A6-454D-8AC3-0E71600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C0115EA-76FA-4937-9CA5-65D53EE0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从渝中到重庆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487F926-C343-4BC0-BF56-8210407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先把小范围做好，再稳步推广，而不是一开始就追求规模。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160F3375-A5CF-4D3B-9325-E366A9B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CA2653-21F6-4D0A-88DE-635CBBF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7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68B465-0A33-44B9-841F-B812F50E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1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渝中试点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509392-CE13-49BE-A895-27F9E26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继续收集孩子、家长、老师的真实反馈</a:t>
            </a:r>
          </a:p>
        </p:txBody>
      </p:sp>
      <p:sp>
        <p:nvSpPr>
          <p:cNvPr id="8" name="roundRect">
            <a:extLst xmlns:a="http://schemas.openxmlformats.org/drawingml/2006/main">
              <a:ext uri="{FF2B5EF4-FFF2-40B4-BE49-F238E27FC236}">
                <a16:creationId xmlns:a16="http://schemas.microsoft.com/office/drawing/2014/main" id="{23873D23-6427-4222-9D1C-C9232AB7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61140F-AB36-4300-881A-CD13DC1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7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EC71BD-33F8-4F8B-9C31-955979A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1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优化体验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A2D5AB-1472-44A8-9F37-542A81EC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改进 AI 讲解、题库难度和学习报告</a:t>
            </a:r>
          </a:p>
        </p:txBody>
      </p:sp>
      <p:sp>
        <p:nvSpPr>
          <p:cNvPr id="12" name="roundRect">
            <a:extLst xmlns:a="http://schemas.openxmlformats.org/drawingml/2006/main">
              <a:ext uri="{FF2B5EF4-FFF2-40B4-BE49-F238E27FC236}">
                <a16:creationId xmlns:a16="http://schemas.microsoft.com/office/drawing/2014/main" id="{AA37F82C-F1CD-42B3-A0A8-01D9F81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522EB8-C1BB-44DC-823A-54DFDFF1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7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6B6455-750B-4979-8889-EC03696A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1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区域推广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BE14B6-4435-490E-86FF-99CAA8FB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与更多老师、机构和协会合作</a:t>
            </a:r>
          </a:p>
        </p:txBody>
      </p:sp>
      <p:sp>
        <p:nvSpPr>
          <p:cNvPr id="16" name="roundRect">
            <a:extLst xmlns:a="http://schemas.openxmlformats.org/drawingml/2006/main">
              <a:ext uri="{FF2B5EF4-FFF2-40B4-BE49-F238E27FC236}">
                <a16:creationId xmlns:a16="http://schemas.microsoft.com/office/drawing/2014/main" id="{BBAE2370-73A5-4B54-AEBA-5C66D26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E2254D6-EB7E-4944-9A05-22F5A21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7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46F562-F71C-406B-9300-030F62E3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1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服务重庆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0BB36F5-5421-4AA1-AFD4-B7AF08C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6B61"/>
                </a:solidFill>
                <a:latin typeface="Microsoft YaHei"/>
                <a:ea typeface="Microsoft YaHei"/>
                <a:cs typeface="Microsoft YaHei"/>
              </a:rPr>
              <a:t>覆盖更多 4-10 岁、三级之前学习者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376A8486-6797-4438-8DBB-738BAC7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DE8409-34C8-4E52-814D-032CAEBE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693CAC1-ABD0-43EA-BB10-9C1A9859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32003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BA65300-48A5-4A94-AB5B-55D6B77C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FUTURE VALUE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B370B0F-2ED8-4E9E-B775-07930812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300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未来可能的经济效益：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300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个人学棋 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D833EC-460B-4D2F-8DAF-864B0878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现阶段以社会效益为主。等平台服务更多初学者后，可以为更高级学习者提供个性化 AI 教练。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B14FB4AD-B979-4E5B-9404-206CA6F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086444-33AA-42BE-BAC9-515DC994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954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记录学生情况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9F8B0C-62B5-4B6D-A4F5-0C222072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错题、对局、训练时间、目标等级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05C8ED25-9E93-48C7-B56A-9D374F42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AEE626-8C05-4A48-A02E-0A6D235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生成学习计划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F4656F-E320-443F-92B3-C5C56B8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623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每天练什么、为什么练、如何复盘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F9BFC1E0-8A55-480E-84F4-C3DD034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3D8595-18A5-40F2-9B94-92463CD3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长期陪伴进步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FAEA666-00BA-40E9-B050-DB083BF3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101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像一个随时能解释的 AI 学棋助手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0901F516-C6E4-40EB-B884-C83AE29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3B15D59-87D1-4138-B542-FD335778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67C257-6980-469D-88EC-5982413D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4144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ct">
            <a:extLst xmlns:a="http://schemas.openxmlformats.org/drawingml/2006/main">
              <a:ext uri="{FF2B5EF4-FFF2-40B4-BE49-F238E27FC236}">
                <a16:creationId xmlns:a16="http://schemas.microsoft.com/office/drawing/2014/main" id="{8D027301-6B0C-45E7-83F3-A0F8C3A7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0267151A-C593-4C62-AF59-2B2CFFA3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4BF55516-FDC4-44C0-BDE8-75CE433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6492D7BD-A3E4-4E68-9B41-DBEC1577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BDBD5FF1-5F5B-47E7-8F6E-A18D84D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2C10AAE6-1AEE-4D08-B1EB-B1C08AED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84D5F5C9-2970-44A3-99AD-391934CF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B9E022A8-37A8-401A-9140-3677AA52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9339B5DC-8E2D-4F76-BA05-8EC723B2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2702598E-6425-45FA-8438-E165E523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E5AAA52F-1804-4F45-9C90-0B912AC0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57F4801F-D74D-4B47-B67C-9D848977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963E1A54-64C3-4AD2-8C6F-702857C1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CC2ABCAB-C670-4751-BFDB-602754F2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2F3EAFC0-7B8C-4F73-AB3C-06FCF40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6609725A-2822-466E-8A61-25F32F85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6E9012CC-B868-4D19-BC90-63CF58B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CC0BF1EB-6393-4F1E-8510-6C1E3AA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CD7C51B3-C140-403B-9E7A-4822AED3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03F40B65-83E9-4FBD-8139-5199BC1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63BFC742-301A-4540-BDA6-A502F4E7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E4B7C293-B3A5-4FA9-8236-B7B4E61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0BF1CF1C-336F-487A-A53D-E4A4D65D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23041A0D-8CC4-4667-AEFD-BDE1D8D9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12EBA753-663D-447F-9619-CA4555F6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7F12B329-2637-422E-9C1C-30ABC6F9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BE02B845-18B0-4AD6-A242-07CD852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56B3274D-D67A-4E24-B11E-9E0FED64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02B527C7-ECD4-4879-AB61-75A6149B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2026B128-8272-48F1-BFA1-3F25E13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53BA776B-2E89-4214-989F-585507C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D2F7365A-9B06-4DE5-B8ED-61380E00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4054BC99-F5B3-44BE-A529-ED11359A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7BD42C0B-E515-4D3A-80D8-5C4840A2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2171B984-C9B4-4F79-B344-6B4166B8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688E7E25-4B7B-42BE-BD98-B1E941FC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AA004F15-6635-4613-9914-BD42673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F69563BD-0902-4542-B340-858C9E19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7E2B4217-A05E-4363-87CB-34840B1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1406DD6F-5F1C-4363-889A-C545173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715DA06C-2921-471C-8C8E-42CA350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950BA627-AFE6-48E3-8D53-357B5909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7D034C69-A021-4A46-8A29-B5ADD56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1B23FCD0-D559-4914-8263-A78C6875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6B7ADA05-67AC-4293-A8A3-CDA5B3B8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AF94497F-6C00-4317-8DCD-B07E38AA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">
            <a:extLst xmlns:a="http://schemas.openxmlformats.org/drawingml/2006/main">
              <a:ext uri="{FF2B5EF4-FFF2-40B4-BE49-F238E27FC236}">
                <a16:creationId xmlns:a16="http://schemas.microsoft.com/office/drawing/2014/main" id="{118ED173-9E29-4F51-995D-AD500A8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63C17912-902D-45A1-8EEA-3593691A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8D59D5B4-6C27-42F6-BC61-888CE8D7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50A49746-291C-4759-8BEA-BFB3C7B0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D6E44BF6-8BD3-4364-B3D9-DEC5AB6E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76135885-E2BD-4203-8E6B-4F594A9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">
            <a:extLst xmlns:a="http://schemas.openxmlformats.org/drawingml/2006/main">
              <a:ext uri="{FF2B5EF4-FFF2-40B4-BE49-F238E27FC236}">
                <a16:creationId xmlns:a16="http://schemas.microsoft.com/office/drawing/2014/main" id="{EEBA8638-43D4-4305-BE33-33143AA3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9779D28E-9482-49BB-BE83-A558A78B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4DC27FF5-FDB4-480E-9219-456CCD71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B074BC72-9F08-4585-A5FA-D1EA4CB9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">
            <a:extLst xmlns:a="http://schemas.openxmlformats.org/drawingml/2006/main">
              <a:ext uri="{FF2B5EF4-FFF2-40B4-BE49-F238E27FC236}">
                <a16:creationId xmlns:a16="http://schemas.microsoft.com/office/drawing/2014/main" id="{D989284B-379E-4954-838B-0F5FCD7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3C6B9EB5-1388-4D59-9F3B-222FE45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675FA800-2931-4097-B56C-E8922625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ED2BD20A-BE8F-4EC8-8A24-421570E6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60E7CE08-737E-4EAD-A6AE-0099D462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743EB100-3720-4312-94DD-C075EDB0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ct">
            <a:extLst xmlns:a="http://schemas.openxmlformats.org/drawingml/2006/main">
              <a:ext uri="{FF2B5EF4-FFF2-40B4-BE49-F238E27FC236}">
                <a16:creationId xmlns:a16="http://schemas.microsoft.com/office/drawing/2014/main" id="{54E0BE4F-694D-4AC4-B136-BAD09CA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7E5707D8-B06F-41A8-AF48-0024099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427CDA84-AA13-4400-8DA3-CFD8D65B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60" y="3662363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99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♞</a:t>
            </a:r>
          </a:p>
        </p:txBody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0CBBA92F-5140-4452-8459-1A9FDD7D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456" y="4281488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99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♔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EE2F04D4-29F3-42A6-8F16-5C722D29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019" y="2733675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99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♛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FB1142BE-5372-4544-AAD1-3F3C53E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B3C"/>
                </a:solidFill>
                <a:latin typeface="Microsoft YaHei"/>
                <a:ea typeface="Microsoft YaHei"/>
                <a:cs typeface="Microsoft YaHei"/>
              </a:rPr>
              <a:t>ENDING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BBF2C6AC-D52D-4B29-AD67-79DDBF39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我希望棋伴成为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26EF3BEA-4965-4CF1-B5A6-9917A9DE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B2F"/>
                </a:solidFill>
                <a:latin typeface="Microsoft YaHei"/>
                <a:ea typeface="Microsoft YaHei"/>
                <a:cs typeface="Microsoft YaHei"/>
              </a:rPr>
              <a:t>孩子、家长和老师之间的一座桥。</a:t>
            </a:r>
          </a:p>
        </p:txBody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A70D2608-D8E1-490E-9D00-F9CA5D5A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238"/>
                </a:solidFill>
                <a:latin typeface="Microsoft YaHei"/>
                <a:ea typeface="Microsoft YaHei"/>
                <a:cs typeface="Microsoft YaHei"/>
              </a:rPr>
              <a:t>让孩子更容易理解国际象棋，让家长更容易支持孩子，让老师更容易看见学生的进步。</a:t>
            </a:r>
          </a:p>
        </p:txBody>
      </p:sp>
      <p:sp>
        <p:nvSpPr>
          <p:cNvPr id="72" name="roundRect">
            <a:extLst xmlns:a="http://schemas.openxmlformats.org/drawingml/2006/main">
              <a:ext uri="{FF2B5EF4-FFF2-40B4-BE49-F238E27FC236}">
                <a16:creationId xmlns:a16="http://schemas.microsoft.com/office/drawing/2014/main" id="{0D27783F-6694-4E51-90A7-02829AD4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533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6E7AFBBE-75FA-4F52-B0BF-DE0D545C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05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80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从渝中出发，服务重庆更多初学者。</a:t>
            </a:r>
          </a:p>
        </p:txBody>
      </p:sp>
      <p:sp>
        <p:nvSpPr>
          <p:cNvPr id="74" name="rect">
            <a:extLst xmlns:a="http://schemas.openxmlformats.org/drawingml/2006/main">
              <a:ext uri="{FF2B5EF4-FFF2-40B4-BE49-F238E27FC236}">
                <a16:creationId xmlns:a16="http://schemas.microsoft.com/office/drawing/2014/main" id="{7196FE4E-A825-4D06-A8D4-3FD100A5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2AC5B70B-2A5E-4969-8DDF-65F5819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棋伴国际象棋智能学习平台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0AD13B95-7289-41DB-B179-BAD28E56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7E8C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6089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2026-06-20T02:38:44.4980000Z</dcterms:created>
  <dcterms:modified xsi:type="dcterms:W3CDTF">2026-06-20T02:38:44.4980000Z</dcterms:modified>
</coreProperties>
</file>