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A441"/>
                </a:solidFill>
                <a:latin typeface="Microsoft YaHei"/>
                <a:ea typeface="Microsoft YaHei"/>
              </a:rPr>
              <a:t>qitongct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6766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5EDDB"/>
                </a:solidFill>
                <a:latin typeface="Microsoft YaHei"/>
                <a:ea typeface="Microsoft YaHei"/>
              </a:rPr>
              <a:t>让国际象棋，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5EDDB"/>
                </a:solidFill>
                <a:latin typeface="Microsoft YaHei"/>
                <a:ea typeface="Microsoft YaHei"/>
              </a:rPr>
              <a:t>更容易听懂，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5EDDB"/>
                </a:solidFill>
                <a:latin typeface="Microsoft YaHei"/>
                <a:ea typeface="Microsoft YaHei"/>
              </a:rPr>
              <a:t>也更容易坚持。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6052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8CFBE"/>
                </a:solidFill>
                <a:latin typeface="Microsoft YaHei"/>
                <a:ea typeface="Microsoft YaHei"/>
              </a:rPr>
              <a:t>面向 4–10 岁初学者的智能学习平台：AI 用孩子听得懂的话讲棋，动画角色再把它读出来。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120640"/>
            <a:ext cx="2139696" cy="457200"/>
          </a:xfrm>
          <a:prstGeom prst="roundRect">
            <a:avLst>
              <a:gd name="adj" fmla="val 8000"/>
            </a:avLst>
          </a:prstGeom>
          <a:solidFill>
            <a:srgbClr val="1E4A3E"/>
          </a:solidFill>
          <a:ln w="1270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193792"/>
            <a:ext cx="2139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D9A441"/>
                </a:solidFill>
                <a:latin typeface="Microsoft YaHei"/>
                <a:ea typeface="Microsoft YaHei"/>
              </a:rPr>
              <a:t>♞ 300+ 分级战术题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5120640"/>
            <a:ext cx="1847088" cy="457200"/>
          </a:xfrm>
          <a:prstGeom prst="roundRect">
            <a:avLst>
              <a:gd name="adj" fmla="val 8000"/>
            </a:avLst>
          </a:prstGeom>
          <a:solidFill>
            <a:srgbClr val="1E4A3E"/>
          </a:solidFill>
          <a:ln w="1270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5193792"/>
            <a:ext cx="18470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D9A441"/>
                </a:solidFill>
                <a:latin typeface="Microsoft YaHei"/>
                <a:ea typeface="Microsoft YaHei"/>
              </a:rPr>
              <a:t>🐻 动画角色语音讲解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5120640"/>
            <a:ext cx="3456432" cy="457200"/>
          </a:xfrm>
          <a:prstGeom prst="roundRect">
            <a:avLst>
              <a:gd name="adj" fmla="val 8000"/>
            </a:avLst>
          </a:prstGeom>
          <a:solidFill>
            <a:srgbClr val="1E4A3E"/>
          </a:solidFill>
          <a:ln w="1270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5193792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D9A441"/>
                </a:solidFill>
                <a:latin typeface="Microsoft YaHei"/>
                <a:ea typeface="Microsoft YaHei"/>
              </a:rPr>
              <a:t>♛ Stockfish × LLM 双引擎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55448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89670" y="155448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66860" y="155448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44050" y="155448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1240" y="155448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98430" y="155448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75620" y="155448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52810" y="155448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52810" y="1536192"/>
            <a:ext cx="377190" cy="3771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7E9D0"/>
                </a:solidFill>
                <a:latin typeface="Microsoft YaHei"/>
                <a:ea typeface="Microsoft YaHei"/>
              </a:rPr>
              <a:t>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93167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913382"/>
            <a:ext cx="377190" cy="3771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7E9D0"/>
                </a:solidFill>
                <a:latin typeface="Microsoft YaHei"/>
                <a:ea typeface="Microsoft YaHei"/>
              </a:rPr>
              <a:t>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89670" y="193167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6860" y="193167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4050" y="193167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193167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98430" y="193167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75620" y="193167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52810" y="193167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230886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89670" y="230886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66860" y="230886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4050" y="230886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21240" y="230886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98430" y="230886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75620" y="230886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52810" y="230886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268605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89670" y="268605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66860" y="268605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44050" y="268605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21240" y="268605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98430" y="268605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75620" y="268605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52810" y="268605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306324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89670" y="306324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66860" y="306324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44050" y="306324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21240" y="306324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1240" y="3044952"/>
            <a:ext cx="377190" cy="3771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3A2B1B"/>
                </a:solidFill>
                <a:latin typeface="Microsoft YaHei"/>
                <a:ea typeface="Microsoft YaHei"/>
              </a:rPr>
              <a:t>♛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98430" y="306324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75620" y="306324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052810" y="306324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12480" y="344043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9670" y="344043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66860" y="344043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44050" y="344043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21240" y="344043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98430" y="344043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675620" y="344043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052810" y="344043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12480" y="381762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89670" y="381762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66860" y="381762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44050" y="381762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21240" y="381762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298430" y="381762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75620" y="381762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052810" y="381762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12480" y="419481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89670" y="419481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66860" y="419481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44050" y="419481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921240" y="419481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21240" y="4176522"/>
            <a:ext cx="377190" cy="3771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7E9D0"/>
                </a:solidFill>
                <a:latin typeface="Microsoft YaHei"/>
                <a:ea typeface="Microsoft YaHei"/>
              </a:rPr>
              <a:t>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98430" y="419481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675620" y="4194810"/>
            <a:ext cx="377190" cy="377190"/>
          </a:xfrm>
          <a:prstGeom prst="rect">
            <a:avLst/>
          </a:prstGeom>
          <a:solidFill>
            <a:srgbClr val="7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052810" y="4194810"/>
            <a:ext cx="377190" cy="377190"/>
          </a:xfrm>
          <a:prstGeom prst="rect">
            <a:avLst/>
          </a:prstGeom>
          <a:solidFill>
            <a:srgbClr val="F0D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开场 · 一个具体的场景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1E4A3E"/>
                </a:solidFill>
                <a:latin typeface="Microsoft YaHei"/>
                <a:ea typeface="Microsoft YaHei"/>
              </a:rPr>
              <a:t>None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60350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4A3E"/>
                </a:solidFill>
                <a:latin typeface="Microsoft YaHei"/>
                <a:ea typeface="Microsoft YaHei"/>
              </a:rPr>
              <a:t>一个 6 岁的孩子，</a:t>
            </a:r>
          </a:p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4A3E"/>
                </a:solidFill>
                <a:latin typeface="Microsoft YaHei"/>
                <a:ea typeface="Microsoft YaHei"/>
              </a:rPr>
              <a:t>第一次看到「牵制」两个字。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F6A5B"/>
                </a:solidFill>
                <a:latin typeface="Microsoft YaHei"/>
                <a:ea typeface="Microsoft YaHei"/>
              </a:rPr>
              <a:t>他背下来了，做题还是错。不是不努力，是真的没听懂——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6F6A5B"/>
                </a:solidFill>
                <a:latin typeface="Microsoft YaHei"/>
                <a:ea typeface="Microsoft YaHei"/>
              </a:rPr>
              <a:t>也没人用他听得懂的话解释给他听。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6517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E4A3E"/>
                </a:solidFill>
                <a:latin typeface="Microsoft YaHei"/>
                <a:ea typeface="Microsoft YaHei"/>
              </a:rPr>
              <a:t>我 6 岁开始学棋，也这样卡过。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5661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F6A5B"/>
                </a:solidFill>
                <a:latin typeface="Microsoft YaHei"/>
                <a:ea typeface="Microsoft YaHei"/>
              </a:rPr>
              <a:t>所以我想做一个平台，让每个孩子都能「听得懂」，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6F6A5B"/>
                </a:solidFill>
                <a:latin typeface="Microsoft YaHei"/>
                <a:ea typeface="Microsoft YaHei"/>
              </a:rPr>
              <a:t>也让每一点进步都「被看见」。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871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75A3F"/>
                </a:solidFill>
                <a:latin typeface="Microsoft YaHei"/>
                <a:ea typeface="Microsoft YaHei"/>
              </a:rPr>
              <a:t>牵制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谁遇到了问题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1E4A3E"/>
                </a:solidFill>
                <a:latin typeface="Microsoft YaHei"/>
                <a:ea typeface="Microsoft YaHei"/>
              </a:rPr>
              <a:t>这个问题，其实属于三个角色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468880"/>
            <a:ext cx="3566160" cy="41148"/>
          </a:xfrm>
          <a:prstGeom prst="roundRect">
            <a:avLst>
              <a:gd name="adj" fmla="val 8000"/>
            </a:avLst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487168"/>
            <a:ext cx="3566160" cy="3182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633472"/>
            <a:ext cx="3127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🧒 学生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944368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E4A3E"/>
                </a:solidFill>
                <a:latin typeface="Microsoft YaHei"/>
                <a:ea typeface="Microsoft YaHei"/>
              </a:rPr>
              <a:t>需要听得懂的即时反馈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346704"/>
            <a:ext cx="3127248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F6A5B"/>
                </a:solidFill>
                <a:latin typeface="Microsoft YaHei"/>
                <a:ea typeface="Microsoft YaHei"/>
              </a:rPr>
              <a:t>「牵制」「闪击」会背，不代表真的理解；做题只给对错，却不说为什么。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566160" cy="41148"/>
          </a:xfrm>
          <a:prstGeom prst="roundRect">
            <a:avLst>
              <a:gd name="adj" fmla="val 8000"/>
            </a:avLst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487168"/>
            <a:ext cx="3566160" cy="3182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633472"/>
            <a:ext cx="3127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👨‍👩‍👧 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944368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E4A3E"/>
                </a:solidFill>
                <a:latin typeface="Microsoft YaHei"/>
                <a:ea typeface="Microsoft YaHei"/>
              </a:rPr>
              <a:t>不懂棋，也想看懂孩子的进步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346704"/>
            <a:ext cx="3127248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F6A5B"/>
                </a:solidFill>
                <a:latin typeface="Microsoft YaHei"/>
                <a:ea typeface="Microsoft YaHei"/>
              </a:rPr>
              <a:t>愿意支持、愿意监督，但看不懂棋，就很难判断孩子有没有在往前走。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468880"/>
            <a:ext cx="3566160" cy="41148"/>
          </a:xfrm>
          <a:prstGeom prst="roundRect">
            <a:avLst>
              <a:gd name="adj" fmla="val 8000"/>
            </a:avLst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2487168"/>
            <a:ext cx="3566160" cy="3182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633472"/>
            <a:ext cx="3127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👩‍🏫 老师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944368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E4A3E"/>
                </a:solidFill>
                <a:latin typeface="Microsoft YaHei"/>
                <a:ea typeface="Microsoft YaHei"/>
              </a:rPr>
              <a:t>课后任务和班级追踪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346704"/>
            <a:ext cx="3127248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F6A5B"/>
                </a:solidFill>
                <a:latin typeface="Microsoft YaHei"/>
                <a:ea typeface="Microsoft YaHei"/>
              </a:rPr>
              <a:t>课堂讲完了，课后练习却很难持续追踪，每个学生的情况也看不全。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A441"/>
                </a:solidFill>
                <a:latin typeface="Microsoft YaHei"/>
                <a:ea typeface="Microsoft YaHei"/>
              </a:rPr>
              <a:t>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F5EDDB"/>
                </a:solidFill>
                <a:latin typeface="Microsoft YaHei"/>
                <a:ea typeface="Microsoft YaHei"/>
              </a:rPr>
              <a:t>用 AI，把专业棋语翻译成孩子的话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D8CFBE"/>
                </a:solidFill>
                <a:latin typeface="Microsoft YaHei"/>
                <a:ea typeface="Microsoft YaHei"/>
              </a:rPr>
              <a:t>不是给定义，而是让孩子真正理解——这正是大语言模型最擅长、也最被需要的地方。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14600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14332B"/>
          </a:solidFill>
          <a:ln w="12700">
            <a:solidFill>
              <a:srgbClr val="3A6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A441"/>
                </a:solidFill>
                <a:latin typeface="Microsoft YaHei"/>
                <a:ea typeface="Microsoft YaHei"/>
              </a:rPr>
              <a:t>传统说法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8CFBE"/>
                </a:solidFill>
                <a:latin typeface="Microsoft YaHei"/>
                <a:ea typeface="Microsoft YaHei"/>
              </a:rPr>
              <a:t>“这是一个牵制，被牵制的子不能随便移动，否则会暴露后方更重要的目标。”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14600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335F50"/>
          </a:solidFill>
          <a:ln w="1270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743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A441"/>
                </a:solidFill>
                <a:latin typeface="Microsoft YaHei"/>
                <a:ea typeface="Microsoft YaHei"/>
              </a:rPr>
              <a:t>AI 面向初学者解释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15468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EDDB"/>
                </a:solidFill>
                <a:latin typeface="Microsoft YaHei"/>
                <a:ea typeface="Microsoft YaHei"/>
              </a:rPr>
              <a:t>“这个棋子后面保护着更重要的棋子，所以它现在不能乱走，就像被钉在原地一样。”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一条完整流程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1E4A3E"/>
                </a:solidFill>
                <a:latin typeface="Microsoft YaHei"/>
                <a:ea typeface="Microsoft YaHei"/>
              </a:rPr>
              <a:t>做一道题，走通完整的学习闭环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6F6A5B"/>
                </a:solidFill>
                <a:latin typeface="Microsoft YaHei"/>
                <a:ea typeface="Microsoft YaHei"/>
              </a:rPr>
              <a:t>与其浏览所有功能，不如把一个最能体现价值的功能讲清楚——就讲「做一道战术题」。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60320"/>
            <a:ext cx="171907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08A2D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选一道题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94760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300+ 分级题，从入门开始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2576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08A2D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2560320"/>
            <a:ext cx="171907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7" y="278892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08A2D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3246120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走子提交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7" y="3794760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直接在棋盘上走一步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5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08A2D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6" y="2560320"/>
            <a:ext cx="171907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6" y="278892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08A2D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8" y="3246120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判对错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6" y="3794760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系统实时判定答案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4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08A2D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5" y="2560320"/>
            <a:ext cx="171907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5" y="278892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08A2D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7" y="3246120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AI 讲解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5" y="3794760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思路 / 关键点 / 误区 / 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3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08A2D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4" y="2560320"/>
            <a:ext cx="171907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4" y="278892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08A2D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6" y="3246120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语音朗读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4" y="3794760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动画角色把讲解读出来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2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08A2D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30963" y="2560320"/>
            <a:ext cx="1719072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0963" y="278892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08A2D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5" y="3246120"/>
            <a:ext cx="15727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错题复盘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2403" y="3794760"/>
            <a:ext cx="153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记录错题，周报可追溯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会说话的棋童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1E4A3E"/>
                </a:solidFill>
                <a:latin typeface="Microsoft YaHei"/>
                <a:ea typeface="Microsoft YaHei"/>
              </a:rPr>
              <a:t>不只「看得懂」，还要「听得见」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6F6A5B"/>
                </a:solidFill>
                <a:latin typeface="Microsoft YaHei"/>
                <a:ea typeface="Microsoft YaHei"/>
              </a:rPr>
              <a:t>每一段 AI 讲解，都有动画角色用声音读出来，让低龄孩子更容易专注、更好坚持。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04825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1E2B27"/>
                </a:solidFill>
                <a:latin typeface="Microsoft YaHei"/>
                <a:ea typeface="Microsoft YaHei"/>
              </a:rPr>
              <a:t>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9184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憨厚熊哥哥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18653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温和耐心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慢慢讲故事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468880"/>
            <a:ext cx="204825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697480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1E2B27"/>
                </a:solidFill>
                <a:latin typeface="Microsoft YaHei"/>
                <a:ea typeface="Microsoft YaHei"/>
              </a:rPr>
              <a:t>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329184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软萌小猪妹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703320"/>
            <a:ext cx="18653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奶声奶气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软糯可爱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468880"/>
            <a:ext cx="204825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697480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1E2B27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29184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元气小队长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3703320"/>
            <a:ext cx="18653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积极有干劲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做题后加油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2048" y="2468880"/>
            <a:ext cx="204825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697480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1E2B27"/>
                </a:solidFill>
                <a:latin typeface="Microsoft YaHei"/>
                <a:ea typeface="Microsoft YaHe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29184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呆萌机器人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703320"/>
            <a:ext cx="18653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俏皮带电子感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陪练分析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2468880"/>
            <a:ext cx="204825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2697480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1E2B27"/>
                </a:solidFill>
                <a:latin typeface="Microsoft YaHei"/>
                <a:ea typeface="Microsoft YaHei"/>
              </a:rPr>
              <a:t>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329184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4A3E"/>
                </a:solidFill>
                <a:latin typeface="Microsoft YaHei"/>
                <a:ea typeface="Microsoft YaHei"/>
              </a:rPr>
              <a:t>猴哥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703320"/>
            <a:ext cx="18653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经典戏剧腔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F6A5B"/>
                </a:solidFill>
                <a:latin typeface="Microsoft YaHei"/>
                <a:ea typeface="Microsoft YaHei"/>
              </a:rPr>
              <a:t>活泼有精神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57800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F6A5B"/>
                </a:solidFill>
                <a:latin typeface="Microsoft YaHei"/>
                <a:ea typeface="Microsoft YaHei"/>
              </a:rPr>
              <a:t>语言自适应：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5212080"/>
            <a:ext cx="2167128" cy="402336"/>
          </a:xfrm>
          <a:prstGeom prst="roundRect">
            <a:avLst>
              <a:gd name="adj" fmla="val 8000"/>
            </a:avLst>
          </a:prstGeom>
          <a:solidFill>
            <a:srgbClr val="F4E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266944"/>
            <a:ext cx="21671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C08A2D"/>
                </a:solidFill>
                <a:latin typeface="Microsoft YaHei"/>
                <a:ea typeface="Microsoft YaHei"/>
              </a:rPr>
              <a:t>中文 · 动画角色音色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5212080"/>
            <a:ext cx="2944368" cy="402336"/>
          </a:xfrm>
          <a:prstGeom prst="roundRect">
            <a:avLst>
              <a:gd name="adj" fmla="val 8000"/>
            </a:avLst>
          </a:prstGeom>
          <a:solidFill>
            <a:srgbClr val="F4E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5266944"/>
            <a:ext cx="2944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C08A2D"/>
                </a:solidFill>
                <a:latin typeface="Microsoft YaHei"/>
                <a:ea typeface="Microsoft YaHei"/>
              </a:rPr>
              <a:t>English · 多语角色音色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97496" y="5212080"/>
            <a:ext cx="3255264" cy="402336"/>
          </a:xfrm>
          <a:prstGeom prst="roundRect">
            <a:avLst>
              <a:gd name="adj" fmla="val 8000"/>
            </a:avLst>
          </a:prstGeom>
          <a:solidFill>
            <a:srgbClr val="F4E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7496" y="5266944"/>
            <a:ext cx="32552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C08A2D"/>
                </a:solidFill>
                <a:latin typeface="Microsoft YaHei"/>
                <a:ea typeface="Microsoft YaHei"/>
              </a:rPr>
              <a:t>日/法/西 · 自动切浏览器对应音色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A441"/>
                </a:solidFill>
                <a:latin typeface="Microsoft YaHei"/>
                <a:ea typeface="Microsoft YaHei"/>
              </a:rPr>
              <a:t>一个代表设计 · 为什么需要它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F5EDDB"/>
                </a:solidFill>
                <a:latin typeface="Microsoft YaHei"/>
                <a:ea typeface="Microsoft YaHei"/>
              </a:rPr>
              <a:t>AI 会挂，孩子不能等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D8CFBE"/>
                </a:solidFill>
                <a:latin typeface="Microsoft YaHei"/>
                <a:ea typeface="Microsoft YaHei"/>
              </a:rPr>
              <a:t>模型会超时、会并发打满、会不可用。孩子正在做题，讲解不能突然消失。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60320"/>
            <a:ext cx="4937760" cy="3017520"/>
          </a:xfrm>
          <a:prstGeom prst="roundRect">
            <a:avLst>
              <a:gd name="adj" fmla="val 8000"/>
            </a:avLst>
          </a:prstGeom>
          <a:solidFill>
            <a:srgbClr val="14332B"/>
          </a:solidFill>
          <a:ln w="12700">
            <a:solidFill>
              <a:srgbClr val="3A6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A441"/>
                </a:solidFill>
                <a:latin typeface="Microsoft YaHei"/>
                <a:ea typeface="Microsoft YaHei"/>
              </a:rPr>
              <a:t>它解决了什么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389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EDDB"/>
                </a:solidFill>
                <a:latin typeface="Microsoft YaHei"/>
                <a:ea typeface="Microsoft YaHei"/>
              </a:rPr>
              <a:t>四级回退：AI 不可用时，讲解自动降级到 Stockfish 或本地规则，孩子无感知，服务永不中断。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10896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75A3F"/>
                </a:solidFill>
                <a:latin typeface="Microsoft YaHei"/>
                <a:ea typeface="Microsoft YaHei"/>
              </a:rPr>
              <a:t>Ollama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1272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9A44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1089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75A3F"/>
                </a:solidFill>
                <a:latin typeface="Microsoft YaHei"/>
                <a:ea typeface="Microsoft YaHei"/>
              </a:rPr>
              <a:t>Qwen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272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9A44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1089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EDDB"/>
                </a:solidFill>
                <a:latin typeface="Microsoft YaHei"/>
                <a:ea typeface="Microsoft YaHei"/>
              </a:rPr>
              <a:t>Stockfish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31272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9A44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1089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5EDDB"/>
                </a:solidFill>
                <a:latin typeface="Microsoft YaHei"/>
                <a:ea typeface="Microsoft YaHei"/>
              </a:rPr>
              <a:t>本地规则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11480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8CFBE"/>
                </a:solidFill>
                <a:latin typeface="Microsoft YaHei"/>
                <a:ea typeface="Microsoft YaHei"/>
              </a:rPr>
              <a:t>叠加超时、内容过滤、输出校验，让演示和真实使用都一样稳。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失败与迭代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1E4A3E"/>
                </a:solidFill>
                <a:latin typeface="Microsoft YaHei"/>
                <a:ea typeface="Microsoft YaHei"/>
              </a:rPr>
              <a:t>两个真实的失败，怎么改好的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6F6A5B"/>
                </a:solidFill>
                <a:latin typeface="Microsoft YaHei"/>
                <a:ea typeface="Microsoft YaHei"/>
              </a:rPr>
              <a:t>不只有成功的结果，也有翻车和返工——这些过程才是项目最真实的部分。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77440"/>
            <a:ext cx="5852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523744"/>
            <a:ext cx="5413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4A3E"/>
                </a:solidFill>
                <a:latin typeface="Microsoft YaHei"/>
                <a:ea typeface="Microsoft YaHei"/>
              </a:rPr>
              <a:t>AI 讲解夹着乱码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944368"/>
            <a:ext cx="2642616" cy="1280160"/>
          </a:xfrm>
          <a:prstGeom prst="roundRect">
            <a:avLst>
              <a:gd name="adj" fmla="val 8000"/>
            </a:avLst>
          </a:prstGeom>
          <a:solidFill>
            <a:srgbClr val="F9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090672"/>
            <a:ext cx="23500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75A3F"/>
                </a:solidFill>
                <a:latin typeface="Microsoft YaHei"/>
                <a:ea typeface="Microsoft YaHei"/>
              </a:rPr>
              <a:t>改之前 · 讲解里冒出 **加粗**、1. 编号，孩子看到的是乱码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2944368"/>
            <a:ext cx="2642616" cy="1280160"/>
          </a:xfrm>
          <a:prstGeom prst="roundRect">
            <a:avLst>
              <a:gd name="adj" fmla="val 8000"/>
            </a:avLst>
          </a:prstGeom>
          <a:solidFill>
            <a:srgbClr val="E0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3090672"/>
            <a:ext cx="23500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4A3E"/>
                </a:solidFill>
                <a:latin typeface="Microsoft YaHei"/>
                <a:ea typeface="Microsoft YaHei"/>
              </a:rPr>
              <a:t>改之后 · 加了输出后处理 + 强化提示词，讲解干净了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17720"/>
            <a:ext cx="5852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764024"/>
            <a:ext cx="54132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4A3E"/>
                </a:solidFill>
                <a:latin typeface="Microsoft YaHei"/>
                <a:ea typeface="Microsoft YaHei"/>
              </a:rPr>
              <a:t>多人同时做题，AI 直接 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5184648"/>
            <a:ext cx="2642616" cy="1280160"/>
          </a:xfrm>
          <a:prstGeom prst="roundRect">
            <a:avLst>
              <a:gd name="adj" fmla="val 8000"/>
            </a:avLst>
          </a:prstGeom>
          <a:solidFill>
            <a:srgbClr val="F9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330952"/>
            <a:ext cx="23500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75A3F"/>
                </a:solidFill>
                <a:latin typeface="Microsoft YaHei"/>
                <a:ea typeface="Microsoft YaHei"/>
              </a:rPr>
              <a:t>改之前 · 三个孩子同时请求讲解，服务器报错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48456" y="5184648"/>
            <a:ext cx="2642616" cy="1280160"/>
          </a:xfrm>
          <a:prstGeom prst="roundRect">
            <a:avLst>
              <a:gd name="adj" fmla="val 8000"/>
            </a:avLst>
          </a:prstGeom>
          <a:solidFill>
            <a:srgbClr val="E0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5330952"/>
            <a:ext cx="23500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4A3E"/>
                </a:solidFill>
                <a:latin typeface="Microsoft YaHei"/>
                <a:ea typeface="Microsoft YaHei"/>
              </a:rPr>
              <a:t>改之后 · 四级回退兜底，服务永不中断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377440"/>
            <a:ext cx="47548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8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651760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8A2D"/>
                </a:solidFill>
                <a:latin typeface="Microsoft YaHei"/>
                <a:ea typeface="Microsoft YaHei"/>
              </a:rPr>
              <a:t>我的体会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00400"/>
            <a:ext cx="4206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B27"/>
                </a:solidFill>
                <a:latin typeface="Microsoft YaHei"/>
                <a:ea typeface="Microsoft YaHei"/>
              </a:rPr>
              <a:t>模型不听话是常态——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B27"/>
                </a:solidFill>
                <a:latin typeface="Microsoft YaHei"/>
                <a:ea typeface="Microsoft YaHei"/>
              </a:rPr>
              <a:t>提示词是「建议」而不是「保证」，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B27"/>
                </a:solidFill>
                <a:latin typeface="Microsoft YaHei"/>
                <a:ea typeface="Microsoft YaHei"/>
              </a:rPr>
              <a:t>真正的稳健来自输出端的校验和兜底。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8A2D"/>
                </a:solidFill>
                <a:latin typeface="Microsoft YaHei"/>
                <a:ea typeface="Microsoft YaHei"/>
              </a:rPr>
              <a:t>结果与价值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1E4A3E"/>
                </a:solidFill>
                <a:latin typeface="Microsoft YaHei"/>
                <a:ea typeface="Microsoft YaHei"/>
              </a:rPr>
              <a:t>已经在真实服务，不只是想法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945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08A2D"/>
                </a:solidFill>
                <a:latin typeface="Microsoft YaHei"/>
                <a:ea typeface="Microsoft YaHei"/>
              </a:rPr>
              <a:t>已上线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F6A5B"/>
                </a:solidFill>
                <a:latin typeface="Microsoft YaHei"/>
                <a:ea typeface="Microsoft YaHei"/>
              </a:rPr>
              <a:t>注册、学习、训练、AI 讲解、家长/老师管理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2395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08A2D"/>
                </a:solidFill>
                <a:latin typeface="Microsoft YaHei"/>
                <a:ea typeface="Microsoft YaHei"/>
              </a:rPr>
              <a:t>获认可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9260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F6A5B"/>
                </a:solidFill>
                <a:latin typeface="Microsoft YaHei"/>
                <a:ea typeface="Microsoft YaHei"/>
              </a:rPr>
              <a:t>获渝中区国际象棋协会认可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1945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2395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08A2D"/>
                </a:solidFill>
                <a:latin typeface="Microsoft YaHei"/>
                <a:ea typeface="Microsoft YaHei"/>
              </a:rPr>
              <a:t>在服务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9260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F6A5B"/>
                </a:solidFill>
                <a:latin typeface="Microsoft YaHei"/>
                <a:ea typeface="Microsoft YaHei"/>
              </a:rPr>
              <a:t>帮助当地 4–10 岁初学者持续学习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4048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0965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B27"/>
                </a:solidFill>
                <a:latin typeface="Microsoft YaHei"/>
                <a:ea typeface="Microsoft YaHei"/>
              </a:rPr>
              <a:t>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04164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B27"/>
                </a:solidFill>
                <a:latin typeface="Microsoft YaHei"/>
                <a:ea typeface="Microsoft YaHei"/>
              </a:rPr>
              <a:t>帮孩子  降低入门门槛：不被专业术语挡在门外。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0965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B27"/>
                </a:solidFill>
                <a:latin typeface="Microsoft YaHei"/>
                <a:ea typeface="Microsoft YaHei"/>
              </a:rPr>
              <a:t>👨‍👩‍👧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04164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B27"/>
                </a:solidFill>
                <a:latin typeface="Microsoft YaHei"/>
                <a:ea typeface="Microsoft YaHei"/>
              </a:rPr>
              <a:t>帮家长  更好陪伴：不懂棋，也能看到练习和进步。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89204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148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B27"/>
                </a:solidFill>
                <a:latin typeface="Microsoft YaHei"/>
                <a:ea typeface="Microsoft YaHei"/>
              </a:rPr>
              <a:t>👩‍🏫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50932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B27"/>
                </a:solidFill>
                <a:latin typeface="Microsoft YaHei"/>
                <a:ea typeface="Microsoft YaHei"/>
              </a:rPr>
              <a:t>帮老师  提高效率：课后练习变得可追踪、可反馈。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892040"/>
            <a:ext cx="5349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5148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B27"/>
                </a:solidFill>
                <a:latin typeface="Microsoft YaHei"/>
                <a:ea typeface="Microsoft YaHei"/>
              </a:rPr>
              <a:t>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0932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B27"/>
                </a:solidFill>
                <a:latin typeface="Microsoft YaHei"/>
                <a:ea typeface="Microsoft YaHei"/>
              </a:rPr>
              <a:t>帮重庆  少儿国象普及：从渝中试点，服务更多区域。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6F6A5B"/>
                </a:solidFill>
                <a:latin typeface="Microsoft YaHei"/>
                <a:ea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A441"/>
                </a:solidFill>
                <a:latin typeface="Microsoft YaHei"/>
                <a:ea typeface="Microsoft YaHei"/>
              </a:rPr>
              <a:t>NEXT · 下一步 · 找队友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5EDDB"/>
                </a:solidFill>
                <a:latin typeface="Microsoft YaHei"/>
                <a:ea typeface="Microsoft YaHei"/>
              </a:rPr>
              <a:t>一座桥，想找一位「前端」一起搭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8CFBE"/>
                </a:solidFill>
                <a:latin typeface="Microsoft YaHei"/>
                <a:ea typeface="Microsoft YaHei"/>
              </a:rPr>
              <a:t>下一步：收集真实反馈，让解释更准确、更温暖，扩展到更多课堂场景。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43200"/>
            <a:ext cx="10881360" cy="2194560"/>
          </a:xfrm>
          <a:prstGeom prst="roundRect">
            <a:avLst>
              <a:gd name="adj" fmla="val 8000"/>
            </a:avLst>
          </a:prstGeom>
          <a:solidFill>
            <a:srgbClr val="335F50"/>
          </a:solidFill>
          <a:ln w="1270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5EDDB"/>
                </a:solidFill>
                <a:latin typeface="Microsoft YaHei"/>
                <a:ea typeface="Microsoft YaHei"/>
              </a:rPr>
              <a:t>正在找 · 前端队友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8CFBE"/>
                </a:solidFill>
                <a:latin typeface="Microsoft YaHei"/>
                <a:ea typeface="Microsoft YaHei"/>
              </a:rPr>
              <a:t>一起把 Web 和 Flutter 移动端的体验做得更顺——棋盘交互、角色语音播放、学习进度的可视化。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26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B0A898"/>
                </a:solidFill>
                <a:latin typeface="Microsoft YaHei"/>
                <a:ea typeface="Microsoft YaHei"/>
              </a:rPr>
              <a:t>如果你也对教育或国际象棋感兴趣，那就更好了。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26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Made with ♞ by a chess lover since age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棋童 · Chesstong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B0A898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